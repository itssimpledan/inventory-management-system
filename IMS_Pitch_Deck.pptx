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4A8B4"/>
                </a:solidFill>
              </a:rPr>
              <a:t>BUSINESS OPERATIONS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Operations,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Margins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EF5F9"/>
                </a:solidFill>
              </a:rPr>
              <a:t>How a purpose-built Inventory Management System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EF5F9"/>
                </a:solidFill>
              </a:rPr>
              <a:t>eliminates guesswork and unlocks accurate financials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D7F8A">
              <a:alpha val="15000"/>
            </a:srgbClr>
          </a:solidFill>
          <a:ln w="25400">
            <a:solidFill>
              <a:srgbClr val="0D7F8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731520"/>
            <a:ext cx="2286000" cy="2286000"/>
          </a:xfrm>
          <a:prstGeom prst="ellipse">
            <a:avLst/>
          </a:prstGeom>
          <a:solidFill>
            <a:srgbClr val="14A8B4">
              <a:alpha val="20000"/>
            </a:srgbClr>
          </a:solidFill>
          <a:ln w="25400">
            <a:solidFill>
              <a:srgbClr val="14A8B4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1005840"/>
            <a:ext cx="1188720" cy="1188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F78"/>
          </a:solidFill>
          <a:ln w="12700">
            <a:solidFill>
              <a:srgbClr val="1A4F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773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0B0"/>
                </a:solidFill>
              </a:rPr>
              <a:t>CONFIDENTIAL  ·  For Discussion Purposes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4F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7F8A">
              <a:alpha val="12000"/>
            </a:srgbClr>
          </a:solidFill>
          <a:ln w="12700">
            <a:solidFill>
              <a:srgbClr val="0D7F8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4A8B4"/>
                </a:solidFill>
              </a:rPr>
              <a:t>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5F9"/>
                </a:solidFill>
              </a:rPr>
              <a:t>What most growing businesses are dealing with today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9202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Dark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5F9"/>
                </a:solidFill>
              </a:rPr>
              <a:t>No visibility until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5F9"/>
                </a:solidFill>
              </a:rPr>
              <a:t>it's too late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60520" y="457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72"/>
                </a:solidFill>
              </a:rPr>
              <a:t>What businesses typically experience: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69080" y="10058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1612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6592" y="10789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Stock levels tracked in Excel — updated manually, prone to errors and always out of date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69080" y="19202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0756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36592" y="19933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No real-time view of what's on hand vs. what's on order — leading to over-buying or stockouts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069080" y="28346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99008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36592" y="29077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COGS calculated by guesswork — no systematic cost assignment per unit sold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069080" y="37490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90448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36592" y="38221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Slow month-end close: hours spent reconciling physical counts against spreadsheet figures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468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COGS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6576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5F9"/>
                </a:solidFill>
              </a:rPr>
              <a:t>Numbers you can't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5F9"/>
                </a:solidFill>
              </a:rPr>
              <a:t>fully trust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60520" y="457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72"/>
                </a:solidFill>
              </a:rPr>
              <a:t>The hidden cost of inaccurate financials: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69080" y="10058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0248" y="1271016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107899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Platform fees, commissions, and seller discounts from marketplaces are not properly deducted — inflating stated margins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69080" y="19202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0248" y="2185416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08576" y="199339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GST treatment on revenue vs. expenses is inconsistently applied, creating exposure at tax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69080" y="28346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70248" y="3099816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290779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COGS is often estimated or averaged — not calculated on a per-SKU FIFO basis as required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69080" y="37490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70248" y="4014216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08576" y="382219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D3A"/>
                </a:solidFill>
              </a:rPr>
              <a:t>Deferred revenue (goods sold but payment not yet received) is not tracked separately, distorting cash vs. accrual positions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4231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 &amp;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Controls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65760" y="4114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5F9"/>
                </a:solidFill>
              </a:rPr>
              <a:t>Time-consuming,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5F9"/>
                </a:solidFill>
              </a:rPr>
              <a:t>error-prone,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5F9"/>
                </a:solidFill>
              </a:rPr>
              <a:t>untraceable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60520" y="457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72"/>
                </a:solidFill>
              </a:rPr>
              <a:t>The operational cost of doing things manually: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69080" y="1005840"/>
            <a:ext cx="47091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1005840"/>
            <a:ext cx="82296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11155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297680" y="1554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6072"/>
                </a:solidFill>
              </a:rPr>
              <a:t>lost each week to manual data entry across purchasing, receiving, and sales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69080" y="2304288"/>
            <a:ext cx="47091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069080" y="2304288"/>
            <a:ext cx="82296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24140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297680" y="2852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6072"/>
                </a:solidFill>
              </a:rPr>
              <a:t>trail — changes to stock or pricing are untraceable, creating compliance risk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69080" y="3602736"/>
            <a:ext cx="47091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069080" y="3602736"/>
            <a:ext cx="82296" cy="1115568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37124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7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Siloed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297680" y="41513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6072"/>
                </a:solidFill>
              </a:rPr>
              <a:t>data across purchasing, inventory, sales and finance with no single source of truth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5F9"/>
                </a:solidFill>
              </a:rPr>
              <a:t>A fully integrated, purpose-built system designed for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5F9"/>
                </a:solidFill>
              </a:rPr>
              <a:t>product-based businesses operating across multiple channels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— What's Included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64008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Orders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719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Raise POs, receive goods,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record landed costs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914400"/>
            <a:ext cx="2743200" cy="64008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1556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Tracking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83280" y="1719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Real-time stock levels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with full movement history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72200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914400"/>
            <a:ext cx="2743200" cy="64008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1556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Costing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1719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Precise per-unit cost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assignment on every sale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28600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834640"/>
            <a:ext cx="2743200" cy="64008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3580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Channels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1148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Direct sales, Lazada,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Atome and more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00400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834640"/>
            <a:ext cx="2743200" cy="64008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035808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GST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38328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Auto-generated journal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entries with GST treatment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834640"/>
            <a:ext cx="2743200" cy="64008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035808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5508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Margin analysis, inventory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6072"/>
                </a:solidFill>
              </a:rPr>
              <a:t>valuation, reconciliation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FIFO Costing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stock, accurate cost of sales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73352"/>
            <a:ext cx="182880" cy="18288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27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D3A"/>
                </a:solidFill>
              </a:rPr>
              <a:t>Every goods receipt is logged against a Purchase Order with unit cost and quantity — no manual entry gaps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182880" cy="18288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2257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D3A"/>
                </a:solidFill>
              </a:rPr>
              <a:t>FIFO (First-In, First-Out) is applied automatically: the oldest cost layer is consumed first on every sale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264408"/>
            <a:ext cx="182880" cy="18288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1181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D3A"/>
                </a:solidFill>
              </a:rPr>
              <a:t>COGS per line item is calculated and stored — giving accurate gross margin by product, channel, and period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182880" cy="18288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913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D3A"/>
                </a:solidFill>
              </a:rPr>
              <a:t>Inventory valuation report available at any point in time — no need to wait for month-end stock takes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069080" cy="4023360"/>
          </a:xfrm>
          <a:prstGeom prst="rect">
            <a:avLst/>
          </a:prstGeom>
          <a:solidFill>
            <a:srgbClr val="F4F9FC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3D62"/>
                </a:solidFill>
              </a:rPr>
              <a:t>FIFO Cost Layers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3566160" cy="530352"/>
          </a:xfrm>
          <a:prstGeom prst="rect">
            <a:avLst/>
          </a:prstGeom>
          <a:solidFill>
            <a:srgbClr val="0D7F8A">
              <a:alpha val="80000"/>
            </a:srgbClr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4996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Jan Batch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100 units  @ $12.00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04288"/>
            <a:ext cx="2852928" cy="530352"/>
          </a:xfrm>
          <a:prstGeom prst="rect">
            <a:avLst/>
          </a:prstGeom>
          <a:solidFill>
            <a:srgbClr val="14A8B4">
              <a:alpha val="80000"/>
            </a:srgbClr>
          </a:solidFill>
          <a:ln w="12700">
            <a:solidFill>
              <a:srgbClr val="14A8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340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Feb Batch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80 units  @ $12.50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145536"/>
            <a:ext cx="2139696" cy="530352"/>
          </a:xfrm>
          <a:prstGeom prst="rect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 Batch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419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60 units  @ $13.20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D7F8A"/>
                </a:solidFill>
              </a:rPr>
              <a:t>← Oldest cost consumed first on each sale</a:t>
            </a:r>
            <a:endParaRPr lang="en-US" sz="10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96596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Sales Reconciliation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Parse, categorise and journal — automatically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423160" cy="118872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Upload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Report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Excel from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marketplace portal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828800"/>
            <a:ext cx="329184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0" y="1463040"/>
            <a:ext cx="2423160" cy="1188720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Parser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00400" y="21214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Reads fee names,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GST, deferred AR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35040" y="1463040"/>
            <a:ext cx="242316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03504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Journal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Entries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035040" y="21214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DR/CR lines auto-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generated per rule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72"/>
                </a:solidFill>
              </a:rPr>
              <a:t>What the system handles today: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65760" y="3337560"/>
            <a:ext cx="4160520" cy="329184"/>
          </a:xfrm>
          <a:prstGeom prst="rect">
            <a:avLst/>
          </a:prstGeom>
          <a:solidFill>
            <a:srgbClr val="EBF9F9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" y="3337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7F8A"/>
                </a:solidFill>
              </a:rPr>
              <a:t>✓  Lazada Income Details (22 fee types)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00600" y="3337560"/>
            <a:ext cx="4160520" cy="329184"/>
          </a:xfrm>
          <a:prstGeom prst="rect">
            <a:avLst/>
          </a:prstGeom>
          <a:solidFill>
            <a:srgbClr val="EBF9F9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10328" y="3337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7F8A"/>
                </a:solidFill>
              </a:rPr>
              <a:t>✓  Lazada Wallet Settlements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65760" y="3749040"/>
            <a:ext cx="4160520" cy="329184"/>
          </a:xfrm>
          <a:prstGeom prst="rect">
            <a:avLst/>
          </a:prstGeom>
          <a:solidFill>
            <a:srgbClr val="EBF9F9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" y="3749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7F8A"/>
                </a:solidFill>
              </a:rPr>
              <a:t>✓  Atome Transaction Reports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800600" y="3749040"/>
            <a:ext cx="4160520" cy="329184"/>
          </a:xfrm>
          <a:prstGeom prst="rect">
            <a:avLst/>
          </a:prstGeom>
          <a:solidFill>
            <a:srgbClr val="EBF9F9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10328" y="3749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7F8A"/>
                </a:solidFill>
              </a:rPr>
              <a:t>✓  Direct / Counter Sales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65760" y="4160520"/>
            <a:ext cx="4160520" cy="329184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" y="41605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✓  GST on Revenue (9/109 formula)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800600" y="4160520"/>
            <a:ext cx="4160520" cy="329184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910328" y="41605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✓  Input Tax on Platform Fees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65760" y="4572000"/>
            <a:ext cx="4160520" cy="329184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" y="45720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✓  Deferred AR detection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00600" y="4572000"/>
            <a:ext cx="4160520" cy="329184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10328" y="45720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✓  Prior-period settlement matching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Finance, GST &amp; Reporting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accounting logic — so your books are always ready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3429000"/>
          </a:xfrm>
          <a:prstGeom prst="rect">
            <a:avLst/>
          </a:prstGeom>
          <a:solidFill>
            <a:srgbClr val="F4F9FC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685800" cy="68580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7335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359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Entry Engine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Every transaction (PO, receipt, sale, platform fee) generates a pre-formatted DR/CR entry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Revenue, COGS, GST, AP, AR — all mapped to your chart of accounts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Accountant-ready exports in minutes, not days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18688" y="1463040"/>
            <a:ext cx="2743200" cy="3429000"/>
          </a:xfrm>
          <a:prstGeom prst="rect">
            <a:avLst/>
          </a:prstGeom>
          <a:solidFill>
            <a:srgbClr val="F4F9FC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7288" y="1600200"/>
            <a:ext cx="685800" cy="68580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67335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359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Treatment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01568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Output tax computed on revenue using 9/109 formula automatically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01568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Input tax on platform fees and expenses captured correctly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01568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Deferred revenue separated to prevent over-reporting of taxable sales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63056" y="1463040"/>
            <a:ext cx="2743200" cy="3429000"/>
          </a:xfrm>
          <a:prstGeom prst="rect">
            <a:avLst/>
          </a:prstGeom>
          <a:solidFill>
            <a:srgbClr val="F4F9FC"/>
          </a:solidFill>
          <a:ln w="12700">
            <a:solidFill>
              <a:srgbClr val="D5E8E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91656" y="1600200"/>
            <a:ext cx="685800" cy="68580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67335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7648" y="2359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Reports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345936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Gross margin by SKU, brand, and sales channel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45936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Inventory valuation at FIFO cost at any date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45936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6072"/>
                </a:solidFill>
              </a:rPr>
              <a:t>·  Period-end reconciliation: settlements vs. AR recognised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319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C6CB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393192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BEFORE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4447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Stock levels tracked in multiple spreadsheets, always out of date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3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95681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COGS unknown until accountant calculates at year-end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054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46888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Revenue figures include uncollected funds and undeducted fees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1752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298094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GST errors discovered only during audit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29584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349300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Hours spent each month on manual reconciliation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4164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4672" y="40050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No visibility into which products or channels are profitable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937760" y="804672"/>
            <a:ext cx="39319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9DFBF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937760" y="804672"/>
            <a:ext cx="3931920" cy="5303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937760" y="8046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AFTER</a:t>
            </a:r>
            <a:endParaRPr lang="en-US" sz="15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1481328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449824" y="14447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Live inventory dashboard — know exactly what's on hand and what it cost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2352" y="1993392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49824" y="195681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COGS auto-calculated using FIFO on every transaction</a:t>
            </a:r>
            <a:endParaRPr lang="en-US" sz="11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352" y="2505456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449824" y="246888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Revenue net of fees, discounts, and GST computed in real time</a:t>
            </a:r>
            <a:endParaRPr lang="en-US" sz="11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2352" y="3017520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449824" y="298094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GST treatment applied consistently across all channels automatically</a:t>
            </a:r>
            <a:endParaRPr lang="en-US" sz="11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2352" y="3529584"/>
            <a:ext cx="237744" cy="237744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449824" y="349300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Platform reports parsed in minutes — journal entries ready instantly</a:t>
            </a:r>
            <a:endParaRPr lang="en-US" sz="11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2352" y="4041648"/>
            <a:ext cx="237744" cy="237744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449824" y="40050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D3A"/>
                </a:solidFill>
              </a:rPr>
              <a:t>Margin reports by product and channel always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D7F8A">
              <a:alpha val="10000"/>
            </a:srgbClr>
          </a:solidFill>
          <a:ln w="12700">
            <a:solidFill>
              <a:srgbClr val="0D7F8A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4A8B4"/>
                </a:solidFill>
              </a:rPr>
              <a:t>READY TO GET STARTED?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931920" cy="1051560"/>
          </a:xfrm>
          <a:prstGeom prst="rect">
            <a:avLst/>
          </a:prstGeom>
          <a:solidFill>
            <a:srgbClr val="1A4F78"/>
          </a:solidFill>
          <a:ln w="12700">
            <a:solidFill>
              <a:srgbClr val="0D7F8A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304288"/>
            <a:ext cx="548640" cy="54864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212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Session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603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Walk through your current processes — purchasing, inventory, sales channels, and finance workflows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103120"/>
            <a:ext cx="3931920" cy="1051560"/>
          </a:xfrm>
          <a:prstGeom prst="rect">
            <a:avLst/>
          </a:prstGeom>
          <a:solidFill>
            <a:srgbClr val="1A4F78"/>
          </a:solidFill>
          <a:ln w="12700">
            <a:solidFill>
              <a:srgbClr val="0D7F8A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2304288"/>
            <a:ext cx="548640" cy="54864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2212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Configuration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25603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Map your products, suppliers, chart of accounts, and marketplace platforms into the system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3931920" cy="1051560"/>
          </a:xfrm>
          <a:prstGeom prst="rect">
            <a:avLst/>
          </a:prstGeom>
          <a:solidFill>
            <a:srgbClr val="1A4F78"/>
          </a:solidFill>
          <a:ln w="12700">
            <a:solidFill>
              <a:srgbClr val="0D7F8A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" y="3584448"/>
            <a:ext cx="548640" cy="54864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93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404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Import opening stock balances, historical POs, and existing inventory valuations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383280"/>
            <a:ext cx="3931920" cy="1051560"/>
          </a:xfrm>
          <a:prstGeom prst="rect">
            <a:avLst/>
          </a:prstGeom>
          <a:solidFill>
            <a:srgbClr val="1A4F78"/>
          </a:solidFill>
          <a:ln w="12700">
            <a:solidFill>
              <a:srgbClr val="0D7F8A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10000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3584448"/>
            <a:ext cx="548640" cy="548640"/>
          </a:xfrm>
          <a:prstGeom prst="ellipse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3493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 &amp; Training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8404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EF5F9"/>
                </a:solidFill>
              </a:rPr>
              <a:t>Team onboarding, parallel-run validation, and sign-off — then hand the keys over to you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F8A"/>
          </a:solidFill>
          <a:ln w="12700">
            <a:solidFill>
              <a:srgbClr val="0D7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640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Let's build something that works — for your business, your team, and your books.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 — Client Pitch</dc:title>
  <dc:subject>PptxGenJS Presentation</dc:subject>
  <dc:creator>PptxGenJS</dc:creator>
  <cp:lastModifiedBy>PptxGenJS</cp:lastModifiedBy>
  <cp:revision>1</cp:revision>
  <dcterms:created xsi:type="dcterms:W3CDTF">2026-05-21T06:14:00Z</dcterms:created>
  <dcterms:modified xsi:type="dcterms:W3CDTF">2026-05-21T06:14:00Z</dcterms:modified>
</cp:coreProperties>
</file>